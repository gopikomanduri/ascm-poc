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4392" cy="4663440"/>
          </a:xfrm>
          <a:prstGeom prst="roundRect">
            <a:avLst/>
          </a:prstGeom>
          <a:solidFill>
            <a:srgbClr val="16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F59E0B"/>
                </a:solidFill>
              </a:defRPr>
            </a:pPr>
            <a:r>
              <a:t>ASCM PLATFORM (AUTONOMOUS SOFTWARE &amp; COMMERCIAL MACHINE)</a:t>
            </a:r>
          </a:p>
          <a:p>
            <a:pPr>
              <a:spcAft>
                <a:spcPts val="1600"/>
              </a:spcAft>
              <a:defRPr b="1" sz="3400">
                <a:solidFill>
                  <a:srgbClr val="FFFFFF"/>
                </a:solidFill>
              </a:defRPr>
            </a:pPr>
            <a:r>
              <a:t>The World's First Proactive Engineering</a:t>
            </a:r>
            <a:br/>
            <a:r>
              <a:t>&amp; Commercial Operating System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Why build in a vacuum? ASCM transforms passive code-assistants into an ambient AI co-founder:</a:t>
            </a:r>
            <a:br/>
            <a:r>
              <a:t>Proactively intercepting goals, validating customer demand pre-build, engineering across multi-repo systems, and closing sales in 1 click.</a:t>
            </a:r>
          </a:p>
          <a:p>
            <a:pPr>
              <a:defRPr sz="1100">
                <a:solidFill>
                  <a:srgbClr val="0EA5E9"/>
                </a:solidFill>
              </a:defRPr>
            </a:pPr>
            <a:r>
              <a:t>Investor &amp; Executive Pitch Deck  |  Beyond Passive Autocomplete  |  Universal OS Daemon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THE PARADIGM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The Fatal Flaws of Today's AI Coding Tools</a:t>
            </a:r>
          </a:p>
          <a:p>
            <a:pPr>
              <a:spcBef>
                <a:spcPts val="300"/>
              </a:spcBef>
              <a:defRPr sz="1250">
                <a:solidFill>
                  <a:srgbClr val="94A3B8"/>
                </a:solidFill>
              </a:defRPr>
            </a:pPr>
            <a:r>
              <a:t>Claude Code, Cursor, Codex, and Devin wait for human prompts and ignore business reality.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663440"/>
          </a:xfrm>
          <a:prstGeom prst="roundRect">
            <a:avLst/>
          </a:prstGeom>
          <a:solidFill>
            <a:srgbClr val="16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F59E0B"/>
                </a:solidFill>
              </a:defRPr>
            </a:pPr>
            <a:r>
              <a:t>1. 100% Passive Nature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Tools only speak when spoken to. If you are typing bad architecture, they silently autocomplete it.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Zero ambient awareness: The moment you switch to Excel, Notion, or your browser, they disappear.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No proactive mentorship or guidance on whether what you're building is even worth building.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663440"/>
          </a:xfrm>
          <a:prstGeom prst="roundRect">
            <a:avLst/>
          </a:prstGeom>
          <a:solidFill>
            <a:srgbClr val="16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0EA5E9"/>
                </a:solidFill>
              </a:defRPr>
            </a:pPr>
            <a:r>
              <a:t>2. Single-Repo Myopia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Real production systems span 5 to 50 microservices, SDKs, and frontend repos.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Existing tools edit one file or one repo in isolation, breaking downstream consumer contracts.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Confirmation bias: The same LLM writes code and its own unit tests, confirming its hallucinations.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291840" cy="4663440"/>
          </a:xfrm>
          <a:prstGeom prst="roundRect">
            <a:avLst/>
          </a:prstGeom>
          <a:solidFill>
            <a:srgbClr val="16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F59E0B"/>
                </a:solidFill>
              </a:defRPr>
            </a:pPr>
            <a:r>
              <a:t>3. The Fatal 'Code Trap'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Technical founders spend 60 hours/week coding and 0 hours finding customers.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They build for 6 months without speaking to a single buyer, only to launch to silence.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Traditional GTM tools (Clay, Apollo, Smartlead) require days of DNS setup and manual CRM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E9"/>
                </a:solidFill>
              </a:defRPr>
            </a:pPr>
            <a:r>
              <a:t>COMPETITIVE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How ASCM Truly Differs from Claude Code, Antigravity &amp; Codex</a:t>
            </a:r>
          </a:p>
          <a:p>
            <a:pPr>
              <a:spcBef>
                <a:spcPts val="300"/>
              </a:spcBef>
              <a:defRPr sz="1250">
                <a:solidFill>
                  <a:srgbClr val="94A3B8"/>
                </a:solidFill>
              </a:defRPr>
            </a:pPr>
            <a:r>
              <a:t>Moving from reactive reactive chatbots to an ambient, proactive commercial operating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4663440"/>
          </a:xfrm>
          <a:prstGeom prst="roundRect">
            <a:avLst/>
          </a:prstGeom>
          <a:solidFill>
            <a:srgbClr val="161D3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50">
                <a:solidFill>
                  <a:srgbClr val="94A3B8"/>
                </a:solidFill>
              </a:defRPr>
            </a:pPr>
            <a:r>
              <a:t>Claude Code &amp; Codex/Cursor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Mode: Strictly Reactive (Prompt $	o$ Response).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Scope: Single Repo / In-Editor local buffer.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OS Integration: Confined to terminal or IDE window.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Commercial Layer: None. Zero marketing or sales awareness.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Demand Validation: None. Blindly writes code without asking who the buyer is.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Multi-Service: Fails to detect cross-repo API contract breaks.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50">
                <a:solidFill>
                  <a:srgbClr val="0EA5E9"/>
                </a:solidFill>
              </a:defRPr>
            </a:pPr>
            <a:r>
              <a:t>Antigravity &amp; Agentic Frameworks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Mode: Semi-autonomous task runner (Subagent spawning).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Scope: Broad tooling via CLI commands &amp; bash execution.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OS Integration: Process-bound to active agent invocation.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Commercial Layer: Generic instructions; lacks integrated GTM forcing functions.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Demand Validation: Requires user to formulate and drive PRD.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Multi-Service: Generalist search, lacks multi-repo AST AST graph simulation.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50">
                <a:solidFill>
                  <a:srgbClr val="F59E0B"/>
                </a:solidFill>
              </a:defRPr>
            </a:pPr>
            <a:r>
              <a:t>ASCM Platform (The Difference)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Mode: Truly Proactive &amp; Ambient (Nudges without prompt).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Scope: Cross-Repo AST Dependency Graphs &amp; Atomic PRs.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OS Integration: Universal Daemon (macOS launchd, Linux systemd, Windows Tasks).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Commercial Layer: Built-in Turnkey GTM (LinkedIn, X, Outbound Deal Closer).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Demand Validation: Pre-Build Goal Interception (Secures 3 LOIs before coding).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</a:defRPr>
            </a:pPr>
            <a:r>
              <a:t>•  Multi-Service: Two-phase adversarial critics &amp; contract proofs.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CORE INNOVATION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The Universal Proactive Mentor: Beyond the Terminal</a:t>
            </a:r>
          </a:p>
          <a:p>
            <a:pPr>
              <a:spcBef>
                <a:spcPts val="300"/>
              </a:spcBef>
              <a:defRPr sz="1250">
                <a:solidFill>
                  <a:srgbClr val="94A3B8"/>
                </a:solidFill>
              </a:defRPr>
            </a:pPr>
            <a:r>
              <a:t>An ambient AI co-founder active across Excel, your browser, and your 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6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F59E0B"/>
                </a:solidFill>
              </a:defRPr>
            </a:pPr>
            <a:r>
              <a:t>Ambient System-Level Presence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Runs as a lightweight native OS background daemon across macOS, Linux, and Windows.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Not trapped in a terminal: Even when working in Excel or browsing, ASCM remains alert.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Delivers native system banners and ambient modal prompt dialogs directly onto your desktop.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Monitors git commit velocity, branch modifications, and test suite health continuously.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6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F59E0B"/>
                </a:solidFill>
              </a:defRPr>
            </a:pPr>
            <a:r>
              <a:t>Goal Interception &amp; Pre-Build Validation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Pre-Build Customer Validation: The moment you start a task, it pauses and asks: 'Who is the buyer? Can we get 3 design partner calls before writing backend logic?'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Architectural Alternatives: Warns against premature optimization and suggests simpler, battle-tested options.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Code-Avoidance Nudge: Tracks `activity_ratio = code_time / gtm_time`. Warns if you've been coding for 3 days without customer outreach.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The Forcing Function: Ensures you build only what customers will pay for.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E9"/>
                </a:solidFill>
              </a:defRPr>
            </a:pPr>
            <a:r>
              <a:t>CORE INNOVATION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Autonomous Turnkey Marketing &amp; Sales: Zero Setup</a:t>
            </a:r>
          </a:p>
          <a:p>
            <a:pPr>
              <a:spcBef>
                <a:spcPts val="300"/>
              </a:spcBef>
              <a:defRPr sz="1250">
                <a:solidFill>
                  <a:srgbClr val="94A3B8"/>
                </a:solidFill>
              </a:defRPr>
            </a:pPr>
            <a:r>
              <a:t>Turn git commits into revenue with 1 click — no DNS, SPF/DKIM, or API keys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663440"/>
          </a:xfrm>
          <a:prstGeom prst="roundRect">
            <a:avLst/>
          </a:prstGeom>
          <a:solidFill>
            <a:srgbClr val="16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0EA5E9"/>
                </a:solidFill>
              </a:defRPr>
            </a:pPr>
            <a:r>
              <a:t>Autonomous DevRel &amp; Marketing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Automated Channel Ranking: Evaluates repo architecture to target LinkedIn, X, or Reddit.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Contrarian Technical Hooks: Extracts unique architectural diffs into viral, thumb-stopping thought leadership.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1-Click Clipboard Staging: Bypasses API paywalls by placing copy onto macOS clipboard and launching web composer tabs in 5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663440"/>
          </a:xfrm>
          <a:prstGeom prst="roundRect">
            <a:avLst/>
          </a:prstGeom>
          <a:solidFill>
            <a:srgbClr val="16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F59E0B"/>
                </a:solidFill>
              </a:defRPr>
            </a:pPr>
            <a:r>
              <a:t>Autonomous B2B Deal Closer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ICP Lead Discovery: Finds VP Engineering, CTOs, and Platform Leads matching your exact tech stack.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3-Touch Cadence Generation: Tailored outreach addressing prospects' real architectural debt.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Cal.com Auto-Routing: Frictionless meeting scheduling directly into founder calendar.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Zero-DNS Relays: Staged peer relays eliminate domain burnout and deliverability nightmares.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291840" cy="4663440"/>
          </a:xfrm>
          <a:prstGeom prst="roundRect">
            <a:avLst/>
          </a:prstGeom>
          <a:solidFill>
            <a:srgbClr val="16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10B981"/>
                </a:solidFill>
              </a:defRPr>
            </a:pPr>
            <a:r>
              <a:t>Continuous Commercial Loop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Git Commit Anti-Procrastination Monitor: Blocks code merges if marketing actions are ignored.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Live Objection Handling: Deterministic battlecards countering 'Cursor vs ASCM' and 'Build vs Buy'.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Full Local Storage &amp; Privacy: All pipeline states and customer data stored in local JSON with zero cloud CRM lock-in.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END-TO-END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How ASCM Operates as a Full-Lifecycle AI Co-Founder</a:t>
            </a:r>
          </a:p>
          <a:p>
            <a:pPr>
              <a:spcBef>
                <a:spcPts val="300"/>
              </a:spcBef>
              <a:defRPr sz="1250">
                <a:solidFill>
                  <a:srgbClr val="94A3B8"/>
                </a:solidFill>
              </a:defRPr>
            </a:pPr>
            <a:r>
              <a:t>From raw idea inception to multi-repo deployment and closed commercial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4663440"/>
          </a:xfrm>
          <a:prstGeom prst="roundRect">
            <a:avLst/>
          </a:prstGeom>
          <a:solidFill>
            <a:srgbClr val="16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F59E0B"/>
                </a:solidFill>
              </a:defRPr>
            </a:pPr>
            <a:r>
              <a:t>Step 1: Intercept &amp; Validate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User defines goal.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Mentor checks buyer ICP.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Generates 3 LOI steps.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Offers pre-build demand teaser.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Prevents building unneeded software.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4663440"/>
          </a:xfrm>
          <a:prstGeom prst="roundRect">
            <a:avLst/>
          </a:prstGeom>
          <a:solidFill>
            <a:srgbClr val="16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3736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0EA5E9"/>
                </a:solidFill>
              </a:defRPr>
            </a:pPr>
            <a:r>
              <a:t>Step 2: Multi-Repo Build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Cross-repo AST mapping.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Synchronized atomic branches.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Detects breaking changes across 5-50 microservices.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Hermetic sandbox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4663440"/>
          </a:xfrm>
          <a:prstGeom prst="roundRect">
            <a:avLst/>
          </a:prstGeom>
          <a:solidFill>
            <a:srgbClr val="16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10B981"/>
                </a:solidFill>
              </a:defRPr>
            </a:pPr>
            <a:r>
              <a:t>Step 3: Adversarial Verification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Two-phase critic agents.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Independent agents try to break code.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Mathematical proofs &amp; fuzzing.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Eliminates LLM confirmation bias.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4663440"/>
          </a:xfrm>
          <a:prstGeom prst="roundRect">
            <a:avLst/>
          </a:prstGeom>
          <a:solidFill>
            <a:srgbClr val="16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73736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F59E0B"/>
                </a:solidFill>
              </a:defRPr>
            </a:pPr>
            <a:r>
              <a:t>Step 4: Instant Monetization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Mentor detects milestone.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Nudges: 'Time to sell!'.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Launches LinkedIn/X post.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Dispatches 10 CTO outreach emails.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Books demo calls on Cal.com.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THE INVESTMENT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Why ASCM is the Future of Autonomous Software</a:t>
            </a:r>
          </a:p>
          <a:p>
            <a:pPr>
              <a:spcBef>
                <a:spcPts val="300"/>
              </a:spcBef>
              <a:defRPr sz="1250">
                <a:solidFill>
                  <a:srgbClr val="94A3B8"/>
                </a:solidFill>
              </a:defRPr>
            </a:pPr>
            <a:r>
              <a:t>Redefining developer tooling: from passive code autocompletion to an autonomous commercial company builder.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6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0EA5E9"/>
                </a:solidFill>
              </a:defRPr>
            </a:pPr>
            <a:r>
              <a:t>Market Opportunity &amp; Moat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Massive Addressable Market: 30M+ developers and 1M+ tech startups struggling to distribute products.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Deep Competitive Moat: Cross-repo AST semantic graphs, two-phase adversarial critic verification, and multi-OS ambient daemons.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Defensible Distribution: Solves the #1 reason startups fail (building things nobody wants and failing to sell).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6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F59E0B"/>
                </a:solidFill>
              </a:defRPr>
            </a:pPr>
            <a:r>
              <a:t>The Vision: An Autonomous Co-Founder in Every Repo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Every engineer gets an AI co-founder that mentors, builds, audits, and sells.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No more 60-hour coding sprints followed by zero revenue.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Available standalone as an ambient CLI / daemon or enterprise multi-repo platform.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Production v1.0 Verified: 98/98 Passing Automated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